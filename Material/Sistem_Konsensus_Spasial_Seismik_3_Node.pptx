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2D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AB8C9"/>
                </a:solidFill>
                <a:latin typeface="Aptos"/>
              </a:defRPr>
            </a:pPr>
            <a:r>
              <a:t>AIOT • SEISMIC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8C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7899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F8FC"/>
                </a:solidFill>
                <a:latin typeface="Aptos Display"/>
              </a:defRPr>
            </a:pPr>
            <a:r>
              <a:t>Sistem Konsensus Spasial</a:t>
            </a:r>
            <a:br/>
            <a:r>
              <a:t>Seismik Terdistribusi Tiga Node</a:t>
            </a:r>
          </a:p>
          <a:p>
            <a:pPr>
              <a:spcBef>
                <a:spcPts val="1200"/>
              </a:spcBef>
              <a:defRPr sz="2000">
                <a:solidFill>
                  <a:srgbClr val="32D3C0"/>
                </a:solidFill>
                <a:latin typeface="Aptos"/>
              </a:defRPr>
            </a:pPr>
            <a:r>
              <a:t>Berbasis AIoT dengan Integrasi Lintas API Pemerintah (BMKG &amp; JMA)</a:t>
            </a:r>
          </a:p>
          <a:p>
            <a:pPr>
              <a:defRPr sz="1800">
                <a:solidFill>
                  <a:srgbClr val="AAB8C9"/>
                </a:solidFill>
                <a:latin typeface="Aptos"/>
              </a:defRPr>
            </a:pPr>
            <a:r>
              <a:t>untuk Mitigasi Otonom Infrastruktur Domestik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206240"/>
            <a:ext cx="2286000" cy="1005840"/>
          </a:xfrm>
          <a:prstGeom prst="roundRect">
            <a:avLst/>
          </a:prstGeom>
          <a:solidFill>
            <a:srgbClr val="182A40"/>
          </a:solidFill>
          <a:ln w="19050">
            <a:solidFill>
              <a:srgbClr val="48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343400"/>
            <a:ext cx="21031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NODE 1</a:t>
            </a:r>
          </a:p>
          <a:p>
            <a:pPr algn="ctr">
              <a:defRPr sz="900">
                <a:solidFill>
                  <a:srgbClr val="AAB8C9"/>
                </a:solidFill>
                <a:latin typeface="Aptos"/>
              </a:defRPr>
            </a:pPr>
            <a:r>
              <a:t>Anchor Spasial A • LSM6DS3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4206240"/>
            <a:ext cx="2286000" cy="1005840"/>
          </a:xfrm>
          <a:prstGeom prst="roundRect">
            <a:avLst/>
          </a:prstGeom>
          <a:solidFill>
            <a:srgbClr val="182A40"/>
          </a:solidFill>
          <a:ln w="19050">
            <a:solidFill>
              <a:srgbClr val="48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4343400"/>
            <a:ext cx="21031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NODE 2</a:t>
            </a:r>
          </a:p>
          <a:p>
            <a:pPr algn="ctr">
              <a:defRPr sz="900">
                <a:solidFill>
                  <a:srgbClr val="AAB8C9"/>
                </a:solidFill>
                <a:latin typeface="Aptos"/>
              </a:defRPr>
            </a:pPr>
            <a:r>
              <a:t>Anchor Spasial B • LSM6DS3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206240"/>
            <a:ext cx="2468880" cy="1005840"/>
          </a:xfrm>
          <a:prstGeom prst="roundRect">
            <a:avLst/>
          </a:prstGeom>
          <a:solidFill>
            <a:srgbClr val="182A40"/>
          </a:solidFill>
          <a:ln w="19050">
            <a:solidFill>
              <a:srgbClr val="32D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343400"/>
            <a:ext cx="22860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NODE 3</a:t>
            </a:r>
          </a:p>
          <a:p>
            <a:pPr algn="ctr">
              <a:defRPr sz="900">
                <a:solidFill>
                  <a:srgbClr val="AAB8C9"/>
                </a:solidFill>
                <a:latin typeface="Aptos"/>
              </a:defRPr>
            </a:pPr>
            <a:r>
              <a:t>ESP32-S3 Hub • Konsensus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4206240"/>
            <a:ext cx="1828800" cy="1005840"/>
          </a:xfrm>
          <a:prstGeom prst="roundRect">
            <a:avLst/>
          </a:prstGeom>
          <a:solidFill>
            <a:srgbClr val="182A40"/>
          </a:solidFill>
          <a:ln w="19050"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19" y="4343400"/>
            <a:ext cx="16459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CLOUD</a:t>
            </a:r>
          </a:p>
          <a:p>
            <a:pPr algn="ctr">
              <a:defRPr sz="900">
                <a:solidFill>
                  <a:srgbClr val="AAB8C9"/>
                </a:solidFill>
                <a:latin typeface="Aptos"/>
              </a:defRPr>
            </a:pPr>
            <a:r>
              <a:t>BMKG • JMA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00400" y="4709160"/>
            <a:ext cx="457200" cy="0"/>
          </a:xfrm>
          <a:prstGeom prst="line">
            <a:avLst/>
          </a:prstGeom>
          <a:ln w="25400">
            <a:solidFill>
              <a:srgbClr val="32D3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43600" y="4709160"/>
            <a:ext cx="457200" cy="0"/>
          </a:xfrm>
          <a:prstGeom prst="line">
            <a:avLst/>
          </a:prstGeom>
          <a:ln w="25400">
            <a:solidFill>
              <a:srgbClr val="32D3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869680" y="4709160"/>
            <a:ext cx="457200" cy="0"/>
          </a:xfrm>
          <a:prstGeom prst="line">
            <a:avLst/>
          </a:prstGeom>
          <a:ln w="25400">
            <a:solidFill>
              <a:srgbClr val="32D3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3232" y="56235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8C9"/>
                </a:solidFill>
                <a:latin typeface="Aptos"/>
              </a:defRPr>
            </a:pPr>
            <a:r>
              <a:t>Sanni Tri Jayanti • Fauzan Razendry • Eko Aprili Trisno  |  Online Binus University • Jakarta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2D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AB8C9"/>
                </a:solidFill>
                <a:latin typeface="Aptos"/>
              </a:defRPr>
            </a:pPr>
            <a:r>
              <a:t>01 •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8C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Latar Belakang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8C9"/>
                </a:solidFill>
                <a:latin typeface="Aptos"/>
              </a:defRPr>
            </a:pPr>
            <a:r>
              <a:t>Dari sensor lokal menuju Connected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474720" cy="3474720"/>
          </a:xfrm>
          <a:prstGeom prst="roundRect">
            <a:avLst/>
          </a:prstGeom>
          <a:solidFill>
            <a:srgbClr val="121F31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64008" cy="3474720"/>
          </a:xfrm>
          <a:prstGeom prst="rect">
            <a:avLst/>
          </a:prstGeom>
          <a:solidFill>
            <a:srgbClr val="48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99339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88EFF"/>
                </a:solidFill>
                <a:latin typeface="Aptos"/>
              </a:defRPr>
            </a:pPr>
            <a:r>
              <a:t>EDGE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50592"/>
            <a:ext cx="310896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5F8FC"/>
                </a:solidFill>
                <a:latin typeface="Aptos"/>
              </a:defRPr>
            </a:pPr>
            <a:r>
              <a:t>Sensor lokal mendeteksi guncangan pada milidetik pertama dan memungkinkan respons berlatensi rendah (&lt;1 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3474720" cy="3474720"/>
          </a:xfrm>
          <a:prstGeom prst="roundRect">
            <a:avLst/>
          </a:prstGeom>
          <a:solidFill>
            <a:srgbClr val="121F31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828800"/>
            <a:ext cx="64008" cy="347472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99339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AB40"/>
                </a:solidFill>
                <a:latin typeface="Aptos"/>
              </a:defRPr>
            </a:pPr>
            <a:r>
              <a:t>CLOUD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450592"/>
            <a:ext cx="310896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5F8FC"/>
                </a:solidFill>
                <a:latin typeface="Aptos"/>
              </a:defRPr>
            </a:pPr>
            <a:r>
              <a:t>API pemerintah menyediakan konteks makro: data gempa, magnitudo, lokasi episentrum, dan informasi peringatan.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474720" cy="3474720"/>
          </a:xfrm>
          <a:prstGeom prst="roundRect">
            <a:avLst/>
          </a:prstGeom>
          <a:solidFill>
            <a:srgbClr val="121F31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64008" cy="3474720"/>
          </a:xfrm>
          <a:prstGeom prst="rect">
            <a:avLst/>
          </a:prstGeom>
          <a:solidFill>
            <a:srgbClr val="32D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99339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2D3C0"/>
                </a:solidFill>
                <a:latin typeface="Aptos"/>
              </a:defRPr>
            </a:pPr>
            <a:r>
              <a:t>HYBRID 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450592"/>
            <a:ext cx="310896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5F8FC"/>
                </a:solidFill>
                <a:latin typeface="Aptos"/>
              </a:defRPr>
            </a:pPr>
            <a:r>
              <a:t>Kedua sumber dikonvergensikan untuk mengurangi ketergantungan pada satu sumber data dan meningkatkan validasi keputusan mitigasi.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2356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  <a:latin typeface="Aptos"/>
              </a:defRPr>
            </a:pPr>
            <a:r>
              <a:t>Tantangan: cloud-only berisiko latensi tinggi; local-only rentan terhadap derau dan minim konteks regional.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2D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AB8C9"/>
                </a:solidFill>
                <a:latin typeface="Aptos"/>
              </a:defRPr>
            </a:pPr>
            <a:r>
              <a:t>01 •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8C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Rumusan Masalah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10789920" cy="1188720"/>
          </a:xfrm>
          <a:prstGeom prst="roundRect">
            <a:avLst/>
          </a:prstGeom>
          <a:solidFill>
            <a:srgbClr val="121F31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64008" cy="1188720"/>
          </a:xfrm>
          <a:prstGeom prst="rect">
            <a:avLst/>
          </a:prstGeom>
          <a:solidFill>
            <a:srgbClr val="48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10512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88E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6771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t>Bagaimana mengintegrasikan protokol data API BMKG dan JMA ke Gateway Node berbasis internet?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154680"/>
            <a:ext cx="10789920" cy="1188720"/>
          </a:xfrm>
          <a:prstGeom prst="roundRect">
            <a:avLst/>
          </a:prstGeom>
          <a:solidFill>
            <a:srgbClr val="121F31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154680"/>
            <a:ext cx="64008" cy="1188720"/>
          </a:xfrm>
          <a:prstGeom prst="rect">
            <a:avLst/>
          </a:prstGeom>
          <a:solidFill>
            <a:srgbClr val="32D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319272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2D3C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77647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t>Bagaimana konsensus spasial tiga node membedakan getaran mekanis lokal dari gelombang gempa riil sebelum validasi eksternal?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663440"/>
            <a:ext cx="10789920" cy="1188720"/>
          </a:xfrm>
          <a:prstGeom prst="roundRect">
            <a:avLst/>
          </a:prstGeom>
          <a:solidFill>
            <a:srgbClr val="121F31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663440"/>
            <a:ext cx="64008" cy="118872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4828031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AB4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5285231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t>Bagaimana Node 3 mengeksekusi penutupan katup gas dan pembukaan akses pintu secara otonom ketika kondisi kritis terdeteksi?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2D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AB8C9"/>
                </a:solidFill>
                <a:latin typeface="Aptos"/>
              </a:defRPr>
            </a:pPr>
            <a:r>
              <a:t>01 •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8C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Tujuan &amp; Manfaat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8C9"/>
                </a:solidFill>
                <a:latin typeface="Aptos"/>
              </a:defRPr>
            </a:pPr>
            <a:r>
              <a:t>Satu sistem keputusan, dua lapisan verifikasi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303520" cy="1828800"/>
          </a:xfrm>
          <a:prstGeom prst="roundRect">
            <a:avLst/>
          </a:prstGeom>
          <a:solidFill>
            <a:srgbClr val="121F31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64008" cy="1828800"/>
          </a:xfrm>
          <a:prstGeom prst="rect">
            <a:avLst/>
          </a:prstGeom>
          <a:solidFill>
            <a:srgbClr val="32D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85623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2D3C0"/>
                </a:solidFill>
                <a:latin typeface="Aptos"/>
              </a:defRPr>
            </a:pPr>
            <a:r>
              <a:t>TUJUAN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13432"/>
            <a:ext cx="49377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F8FC"/>
                </a:solidFill>
                <a:latin typeface="Aptos"/>
              </a:defRPr>
            </a:pPr>
            <a:r>
              <a:t>Merancang sistem keselamatan seismik hibrida yang memadukan tiga ESP32-S3 dengan Cloud API Gateway BMKG &amp; JMA.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49039"/>
            <a:ext cx="5303520" cy="1828800"/>
          </a:xfrm>
          <a:prstGeom prst="roundRect">
            <a:avLst/>
          </a:prstGeom>
          <a:solidFill>
            <a:srgbClr val="121F31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749039"/>
            <a:ext cx="64008" cy="1828800"/>
          </a:xfrm>
          <a:prstGeom prst="rect">
            <a:avLst/>
          </a:prstGeom>
          <a:solidFill>
            <a:srgbClr val="56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13631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6CD82"/>
                </a:solidFill>
                <a:latin typeface="Aptos"/>
              </a:defRPr>
            </a:pPr>
            <a:r>
              <a:t>AKURASI GANDA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4370831"/>
            <a:ext cx="49377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F8FC"/>
                </a:solidFill>
                <a:latin typeface="Aptos"/>
              </a:defRPr>
            </a:pPr>
            <a:r>
              <a:t>Data getaran lokal dicocokkan dengan broadcast alert resmi untuk menekan false positive.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91640"/>
            <a:ext cx="5303520" cy="1828800"/>
          </a:xfrm>
          <a:prstGeom prst="roundRect">
            <a:avLst/>
          </a:prstGeom>
          <a:solidFill>
            <a:srgbClr val="121F31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691640"/>
            <a:ext cx="64008" cy="1828800"/>
          </a:xfrm>
          <a:prstGeom prst="rect">
            <a:avLst/>
          </a:prstGeom>
          <a:solidFill>
            <a:srgbClr val="48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85623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88EFF"/>
                </a:solidFill>
                <a:latin typeface="Aptos"/>
              </a:defRPr>
            </a:pPr>
            <a:r>
              <a:t>ETA EVAKUASI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313432"/>
            <a:ext cx="49377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F8FC"/>
                </a:solidFill>
                <a:latin typeface="Aptos"/>
              </a:defRPr>
            </a:pPr>
            <a:r>
              <a:t>Mengombinasikan Δt antar-node dengan koordinat episentrum untuk mengestimasi waktu tersisa.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49039"/>
            <a:ext cx="5303520" cy="1828800"/>
          </a:xfrm>
          <a:prstGeom prst="roundRect">
            <a:avLst/>
          </a:prstGeom>
          <a:solidFill>
            <a:srgbClr val="121F31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749039"/>
            <a:ext cx="64008" cy="18288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913631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AB40"/>
                </a:solidFill>
                <a:latin typeface="Aptos"/>
              </a:defRPr>
            </a:pPr>
            <a:r>
              <a:t>PROTEKSI MULTI-TAHAP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370831"/>
            <a:ext cx="49377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F8FC"/>
                </a:solidFill>
                <a:latin typeface="Aptos"/>
              </a:defRPr>
            </a:pPr>
            <a:r>
              <a:t>Katup gas diposisikan OFF melalui servo; solenoid door lock dilepas untuk membuka jalur evakuasi.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2D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AB8C9"/>
                </a:solidFill>
                <a:latin typeface="Aptos"/>
              </a:defRPr>
            </a:pPr>
            <a:r>
              <a:t>01 •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8C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Ruang Lingkup &amp; Batasan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Pengambilan data API eksternal dilakukan Fog Gateway / Node 3 melalui koneksi internet.</a:t>
            </a:r>
          </a:p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Komunikasi interupsi darurat antarnode menggunakan jaringan Wi-Fi lokal.</a:t>
            </a:r>
          </a:p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Proses utama: timestamping, parsing JSON BMKG/JMA, kalkulasi redaman amplitudo LSM6DS3, dan kontrol MOSFET.</a:t>
            </a:r>
          </a:p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Fallback mode: pemutus mekanis lokal tetap harus bekerja mandiri ketika internet tidak tersedia.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40680"/>
            <a:ext cx="10607040" cy="594360"/>
          </a:xfrm>
          <a:prstGeom prst="roundRect">
            <a:avLst/>
          </a:prstGeom>
          <a:solidFill>
            <a:srgbClr val="121F31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5440680"/>
            <a:ext cx="64008" cy="594360"/>
          </a:xfrm>
          <a:prstGeom prst="rect">
            <a:avLst/>
          </a:prstGeom>
          <a:solidFill>
            <a:srgbClr val="E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5605272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F5C5C"/>
                </a:solidFill>
                <a:latin typeface="Aptos"/>
              </a:defRPr>
            </a:pPr>
            <a:r>
              <a:t>ASUMSI KUNCI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6062472"/>
            <a:ext cx="10241280" cy="-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5F8FC"/>
                </a:solidFill>
                <a:latin typeface="Aptos"/>
              </a:defRPr>
            </a:pPr>
            <a:r>
              <a:t>Internet tersedia untuk sinkronisasi makro; keselamatan lokal tidak boleh bergantung sepenuhnya pada internet.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2D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AB8C9"/>
                </a:solidFill>
                <a:latin typeface="Aptos"/>
              </a:defRPr>
            </a:pPr>
            <a:r>
              <a:t>02 •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8C9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Diagram Blok Sistem Hibrida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8C9"/>
                </a:solidFill>
                <a:latin typeface="Aptos"/>
              </a:defRPr>
            </a:pPr>
            <a:r>
              <a:t>Tiga tier: sensor → kontrol edge → data pemerintah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AB8C9"/>
                </a:solidFill>
                <a:latin typeface="Aptos"/>
              </a:defRPr>
            </a:pPr>
            <a:r>
              <a:t>TIER 3 • GLOBAL OUTSIDE CLOUD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6324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AB8C9"/>
                </a:solidFill>
                <a:latin typeface="Aptos"/>
              </a:defRPr>
            </a:pPr>
            <a:r>
              <a:t>TIER 2 • EDGE LOCAL CONTROL &amp; CALCULATOR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89204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AB8C9"/>
                </a:solidFill>
                <a:latin typeface="Aptos"/>
              </a:defRPr>
            </a:pPr>
            <a:r>
              <a:t>TIER 1 • SPATIAL DISTRIBUTED SENSOR ARRAY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508760"/>
            <a:ext cx="2560320" cy="822960"/>
          </a:xfrm>
          <a:prstGeom prst="roundRect">
            <a:avLst/>
          </a:prstGeom>
          <a:solidFill>
            <a:srgbClr val="182A40"/>
          </a:solidFill>
          <a:ln w="19050"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645919"/>
            <a:ext cx="2377439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BMKG</a:t>
            </a:r>
          </a:p>
          <a:p>
            <a:pPr algn="ctr">
              <a:defRPr sz="900">
                <a:solidFill>
                  <a:srgbClr val="AAB8C9"/>
                </a:solidFill>
                <a:latin typeface="Aptos"/>
              </a:defRPr>
            </a:pPr>
            <a:r>
              <a:t>Government API • XML/JSON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508760"/>
            <a:ext cx="2560320" cy="822960"/>
          </a:xfrm>
          <a:prstGeom prst="roundRect">
            <a:avLst/>
          </a:prstGeom>
          <a:solidFill>
            <a:srgbClr val="182A40"/>
          </a:solidFill>
          <a:ln w="19050"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45919"/>
            <a:ext cx="2377439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JMA</a:t>
            </a:r>
          </a:p>
          <a:p>
            <a:pPr algn="ctr">
              <a:defRPr sz="900">
                <a:solidFill>
                  <a:srgbClr val="AAB8C9"/>
                </a:solidFill>
                <a:latin typeface="Aptos"/>
              </a:defRPr>
            </a:pPr>
            <a:r>
              <a:t>Public Alert / EEW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2423160"/>
            <a:ext cx="3108960" cy="777240"/>
          </a:xfrm>
          <a:prstGeom prst="roundRect">
            <a:avLst/>
          </a:prstGeom>
          <a:solidFill>
            <a:srgbClr val="182A40"/>
          </a:solidFill>
          <a:ln w="19050">
            <a:solidFill>
              <a:srgbClr val="32D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79" y="2560320"/>
            <a:ext cx="2926079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HTTPS / REST API Client</a:t>
            </a:r>
          </a:p>
          <a:p>
            <a:pPr algn="ctr">
              <a:defRPr sz="900">
                <a:solidFill>
                  <a:srgbClr val="AAB8C9"/>
                </a:solidFill>
                <a:latin typeface="Aptos"/>
              </a:defRPr>
            </a:pPr>
            <a:r>
              <a:t>Cloud Gateway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3429000"/>
            <a:ext cx="4572000" cy="914400"/>
          </a:xfrm>
          <a:prstGeom prst="roundRect">
            <a:avLst/>
          </a:prstGeom>
          <a:solidFill>
            <a:srgbClr val="182A40"/>
          </a:solidFill>
          <a:ln w="19050">
            <a:solidFill>
              <a:srgbClr val="32D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59" y="3566160"/>
            <a:ext cx="43891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NODE 3 • ESP32-S3 HUB</a:t>
            </a:r>
          </a:p>
          <a:p>
            <a:pPr algn="ctr">
              <a:defRPr sz="900">
                <a:solidFill>
                  <a:srgbClr val="AAB8C9"/>
                </a:solidFill>
                <a:latin typeface="Aptos"/>
              </a:defRPr>
            </a:pPr>
            <a:r>
              <a:t>Konsensus • Radius • Kekuatan • ETA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257800"/>
            <a:ext cx="2560320" cy="777240"/>
          </a:xfrm>
          <a:prstGeom prst="roundRect">
            <a:avLst/>
          </a:prstGeom>
          <a:solidFill>
            <a:srgbClr val="182A40"/>
          </a:solidFill>
          <a:ln w="19050">
            <a:solidFill>
              <a:srgbClr val="48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394960"/>
            <a:ext cx="2377439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NODE 1</a:t>
            </a:r>
          </a:p>
          <a:p>
            <a:pPr algn="ctr">
              <a:defRPr sz="900">
                <a:solidFill>
                  <a:srgbClr val="AAB8C9"/>
                </a:solidFill>
                <a:latin typeface="Aptos"/>
              </a:defRPr>
            </a:pPr>
            <a:r>
              <a:t>ESP32-S3 + LSM6DS3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49039" y="5257800"/>
            <a:ext cx="2560320" cy="777240"/>
          </a:xfrm>
          <a:prstGeom prst="roundRect">
            <a:avLst/>
          </a:prstGeom>
          <a:solidFill>
            <a:srgbClr val="182A40"/>
          </a:solidFill>
          <a:ln w="19050">
            <a:solidFill>
              <a:srgbClr val="48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79" y="5394960"/>
            <a:ext cx="2377439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NODE 2</a:t>
            </a:r>
          </a:p>
          <a:p>
            <a:pPr algn="ctr">
              <a:defRPr sz="900">
                <a:solidFill>
                  <a:srgbClr val="AAB8C9"/>
                </a:solidFill>
                <a:latin typeface="Aptos"/>
              </a:defRPr>
            </a:pPr>
            <a:r>
              <a:t>ESP32-S3 + LSM6DS3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5257800"/>
            <a:ext cx="2560320" cy="777240"/>
          </a:xfrm>
          <a:prstGeom prst="roundRect">
            <a:avLst/>
          </a:prstGeom>
          <a:solidFill>
            <a:srgbClr val="182A40"/>
          </a:solidFill>
          <a:ln w="19050">
            <a:solidFill>
              <a:srgbClr val="56C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5394960"/>
            <a:ext cx="2377439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AKTUATOR</a:t>
            </a:r>
          </a:p>
          <a:p>
            <a:pPr algn="ctr">
              <a:defRPr sz="900">
                <a:solidFill>
                  <a:srgbClr val="AAB8C9"/>
                </a:solidFill>
                <a:latin typeface="Aptos"/>
              </a:defRPr>
            </a:pPr>
            <a:r>
              <a:t>Servo + MOSFET + Solenoid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754880" y="2331720"/>
            <a:ext cx="640080" cy="91440"/>
          </a:xfrm>
          <a:prstGeom prst="line">
            <a:avLst/>
          </a:prstGeom>
          <a:ln w="25400">
            <a:solidFill>
              <a:srgbClr val="FFAB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040880" y="2331720"/>
            <a:ext cx="91440" cy="91440"/>
          </a:xfrm>
          <a:prstGeom prst="line">
            <a:avLst/>
          </a:prstGeom>
          <a:ln w="25400">
            <a:solidFill>
              <a:srgbClr val="FFAB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217920" y="3200400"/>
            <a:ext cx="0" cy="228600"/>
          </a:xfrm>
          <a:prstGeom prst="line">
            <a:avLst/>
          </a:prstGeom>
          <a:ln w="25400">
            <a:solidFill>
              <a:srgbClr val="32D3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194560" y="4343400"/>
            <a:ext cx="2377440" cy="914400"/>
          </a:xfrm>
          <a:prstGeom prst="line">
            <a:avLst/>
          </a:prstGeom>
          <a:ln w="25400">
            <a:solidFill>
              <a:srgbClr val="488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029200" y="4343400"/>
            <a:ext cx="457200" cy="914400"/>
          </a:xfrm>
          <a:prstGeom prst="line">
            <a:avLst/>
          </a:prstGeom>
          <a:ln w="25400">
            <a:solidFill>
              <a:srgbClr val="488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400800" y="4343400"/>
            <a:ext cx="1280160" cy="914400"/>
          </a:xfrm>
          <a:prstGeom prst="line">
            <a:avLst/>
          </a:prstGeom>
          <a:ln w="25400">
            <a:solidFill>
              <a:srgbClr val="56CD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2D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AB8C9"/>
                </a:solidFill>
                <a:latin typeface="Aptos"/>
              </a:defRPr>
            </a:pPr>
            <a:r>
              <a:t>02 •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8C9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Flowchart Sistem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8C9"/>
                </a:solidFill>
                <a:latin typeface="Aptos"/>
              </a:defRPr>
            </a:pPr>
            <a:r>
              <a:t>Konsensus sensor lokal + validasi API → mitigasi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108960" cy="914400"/>
          </a:xfrm>
          <a:prstGeom prst="roundRect">
            <a:avLst/>
          </a:prstGeom>
          <a:solidFill>
            <a:srgbClr val="121F31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64008" cy="914400"/>
          </a:xfrm>
          <a:prstGeom prst="rect">
            <a:avLst/>
          </a:prstGeom>
          <a:solidFill>
            <a:srgbClr val="48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647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88EFF"/>
                </a:solidFill>
                <a:latin typeface="Aptos"/>
              </a:defRPr>
            </a:pPr>
            <a:r>
              <a:t>NODE 1 &amp;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21992"/>
            <a:ext cx="2743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5F8FC"/>
                </a:solidFill>
                <a:latin typeface="Aptos"/>
              </a:defRPr>
            </a:pPr>
            <a:r>
              <a:t>Akuisisi parameter inersia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43200"/>
            <a:ext cx="3108960" cy="914400"/>
          </a:xfrm>
          <a:prstGeom prst="roundRect">
            <a:avLst/>
          </a:prstGeom>
          <a:solidFill>
            <a:srgbClr val="121F31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743200"/>
            <a:ext cx="64008" cy="914400"/>
          </a:xfrm>
          <a:prstGeom prst="rect">
            <a:avLst/>
          </a:prstGeom>
          <a:solidFill>
            <a:srgbClr val="48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9077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88EFF"/>
                </a:solidFill>
                <a:latin typeface="Aptos"/>
              </a:defRPr>
            </a:pPr>
            <a:r>
              <a:t>THRESHOLD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364992"/>
            <a:ext cx="2743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5F8FC"/>
                </a:solidFill>
                <a:latin typeface="Aptos"/>
              </a:defRPr>
            </a:pPr>
            <a:r>
              <a:t>Guncangan melewati ambang?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86200"/>
            <a:ext cx="3108960" cy="914400"/>
          </a:xfrm>
          <a:prstGeom prst="roundRect">
            <a:avLst/>
          </a:prstGeom>
          <a:solidFill>
            <a:srgbClr val="121F31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886200"/>
            <a:ext cx="64008" cy="914400"/>
          </a:xfrm>
          <a:prstGeom prst="rect">
            <a:avLst/>
          </a:prstGeom>
          <a:solidFill>
            <a:srgbClr val="48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050791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88EFF"/>
                </a:solidFill>
                <a:latin typeface="Aptos"/>
              </a:defRPr>
            </a:pPr>
            <a:r>
              <a:t>INTERRUPT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507992"/>
            <a:ext cx="2743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5F8FC"/>
                </a:solidFill>
                <a:latin typeface="Aptos"/>
              </a:defRPr>
            </a:pPr>
            <a:r>
              <a:t>Kirim paket data ke Node 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03120" y="2514600"/>
            <a:ext cx="0" cy="228600"/>
          </a:xfrm>
          <a:prstGeom prst="line">
            <a:avLst/>
          </a:prstGeom>
          <a:ln w="25400">
            <a:solidFill>
              <a:srgbClr val="32D3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103120" y="3657600"/>
            <a:ext cx="0" cy="228600"/>
          </a:xfrm>
          <a:prstGeom prst="line">
            <a:avLst/>
          </a:prstGeom>
          <a:ln w="25400">
            <a:solidFill>
              <a:srgbClr val="32D3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160520" y="1600200"/>
            <a:ext cx="3108960" cy="914400"/>
          </a:xfrm>
          <a:prstGeom prst="roundRect">
            <a:avLst/>
          </a:prstGeom>
          <a:solidFill>
            <a:srgbClr val="121F31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1600200"/>
            <a:ext cx="64008" cy="9144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61688" y="17647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AB40"/>
                </a:solidFill>
                <a:latin typeface="Aptos"/>
              </a:defRPr>
            </a:pPr>
            <a:r>
              <a:t>BMKG / JMA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2221992"/>
            <a:ext cx="2743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5F8FC"/>
                </a:solidFill>
                <a:latin typeface="Aptos"/>
              </a:defRPr>
            </a:pPr>
            <a:r>
              <a:t>Polling / long-polling berkala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2743200"/>
            <a:ext cx="3108960" cy="914400"/>
          </a:xfrm>
          <a:prstGeom prst="roundRect">
            <a:avLst/>
          </a:prstGeom>
          <a:solidFill>
            <a:srgbClr val="121F31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60520" y="2743200"/>
            <a:ext cx="64008" cy="9144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1688" y="29077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AB40"/>
                </a:solidFill>
                <a:latin typeface="Aptos"/>
              </a:defRPr>
            </a:pPr>
            <a:r>
              <a:t>EEW 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3364992"/>
            <a:ext cx="2743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5F8FC"/>
                </a:solidFill>
                <a:latin typeface="Aptos"/>
              </a:defRPr>
            </a:pPr>
            <a:r>
              <a:t>Peringatan dini aktif?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60520" y="3886200"/>
            <a:ext cx="3108960" cy="914400"/>
          </a:xfrm>
          <a:prstGeom prst="roundRect">
            <a:avLst/>
          </a:prstGeom>
          <a:solidFill>
            <a:srgbClr val="121F31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60520" y="3886200"/>
            <a:ext cx="64008" cy="9144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1688" y="4050791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AB40"/>
                </a:solidFill>
                <a:latin typeface="Aptos"/>
              </a:defRPr>
            </a:pPr>
            <a:r>
              <a:t>CLOUD INTERRUPT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61688" y="4507992"/>
            <a:ext cx="2743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5F8FC"/>
                </a:solidFill>
                <a:latin typeface="Aptos"/>
              </a:defRPr>
            </a:pPr>
            <a:r>
              <a:t>Kirim event ke Node 3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715000" y="2514600"/>
            <a:ext cx="0" cy="228600"/>
          </a:xfrm>
          <a:prstGeom prst="line">
            <a:avLst/>
          </a:prstGeom>
          <a:ln w="25400">
            <a:solidFill>
              <a:srgbClr val="32D3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715000" y="3657600"/>
            <a:ext cx="0" cy="228600"/>
          </a:xfrm>
          <a:prstGeom prst="line">
            <a:avLst/>
          </a:prstGeom>
          <a:ln w="25400">
            <a:solidFill>
              <a:srgbClr val="32D3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772400" y="1965960"/>
            <a:ext cx="3840480" cy="1417320"/>
          </a:xfrm>
          <a:prstGeom prst="roundRect">
            <a:avLst/>
          </a:prstGeom>
          <a:solidFill>
            <a:srgbClr val="121F31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0" y="1965960"/>
            <a:ext cx="64008" cy="1417320"/>
          </a:xfrm>
          <a:prstGeom prst="rect">
            <a:avLst/>
          </a:prstGeom>
          <a:solidFill>
            <a:srgbClr val="32D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73568" y="2130552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2D3C0"/>
                </a:solidFill>
                <a:latin typeface="Aptos"/>
              </a:defRPr>
            </a:pPr>
            <a:r>
              <a:t>NODE 3 • DECISION CORE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73568" y="258775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5F8FC"/>
                </a:solidFill>
                <a:latin typeface="Aptos"/>
              </a:defRPr>
            </a:pPr>
            <a:r>
              <a:t>Sensor lokal DAN API mengonfirmasi parameter gempa → hitung radius, magnitudo relatif, ETA.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3703320"/>
            <a:ext cx="3840480" cy="1417320"/>
          </a:xfrm>
          <a:prstGeom prst="roundRect">
            <a:avLst/>
          </a:prstGeom>
          <a:solidFill>
            <a:srgbClr val="121F31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0" y="3703320"/>
            <a:ext cx="64008" cy="1417320"/>
          </a:xfrm>
          <a:prstGeom prst="rect">
            <a:avLst/>
          </a:prstGeom>
          <a:solidFill>
            <a:srgbClr val="56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3867911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6CD82"/>
                </a:solidFill>
                <a:latin typeface="Aptos"/>
              </a:defRPr>
            </a:pPr>
            <a:r>
              <a:t>MITIGATION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73568" y="432511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5F8FC"/>
                </a:solidFill>
                <a:latin typeface="Aptos"/>
              </a:defRPr>
            </a:pPr>
            <a:r>
              <a:t>Tampilkan status → MOSFET membuka solenoid → servo memutar katup gas ke OFF.</a:t>
            </a:r>
          </a:p>
        </p:txBody>
      </p:sp>
      <p:cxnSp>
        <p:nvCxnSpPr>
          <p:cNvPr id="43" name="Connector 42"/>
          <p:cNvCxnSpPr/>
          <p:nvPr/>
        </p:nvCxnSpPr>
        <p:spPr>
          <a:xfrm flipV="1">
            <a:off x="3611880" y="2697480"/>
            <a:ext cx="4160520" cy="1645920"/>
          </a:xfrm>
          <a:prstGeom prst="line">
            <a:avLst/>
          </a:prstGeom>
          <a:ln w="25400">
            <a:solidFill>
              <a:srgbClr val="488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7269480" y="2697480"/>
            <a:ext cx="502920" cy="1645920"/>
          </a:xfrm>
          <a:prstGeom prst="line">
            <a:avLst/>
          </a:prstGeom>
          <a:ln w="25400">
            <a:solidFill>
              <a:srgbClr val="FFAB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692640" y="3383280"/>
            <a:ext cx="0" cy="320040"/>
          </a:xfrm>
          <a:prstGeom prst="line">
            <a:avLst/>
          </a:prstGeom>
          <a:ln w="25400">
            <a:solidFill>
              <a:srgbClr val="32D3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2D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AB8C9"/>
                </a:solidFill>
                <a:latin typeface="Aptos"/>
              </a:defRPr>
            </a:pPr>
            <a:r>
              <a:t>02 •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8C9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Rancang Bangun &amp; Integrasi Perangkat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8C9"/>
                </a:solidFill>
                <a:latin typeface="Aptos"/>
              </a:defRPr>
            </a:pPr>
            <a:r>
              <a:t>Penempatan spasial dan aktuasi di area kontrol rumah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474720" cy="3566160"/>
          </a:xfrm>
          <a:prstGeom prst="roundRect">
            <a:avLst/>
          </a:prstGeom>
          <a:solidFill>
            <a:srgbClr val="121F31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64008" cy="3566160"/>
          </a:xfrm>
          <a:prstGeom prst="rect">
            <a:avLst/>
          </a:prstGeom>
          <a:solidFill>
            <a:srgbClr val="48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81051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88EFF"/>
                </a:solidFill>
                <a:latin typeface="Aptos"/>
              </a:defRPr>
            </a:pPr>
            <a:r>
              <a:t>ANCHOR A • NODE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67712"/>
            <a:ext cx="31089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t>ESP32-S3 + LSM6DS3</a:t>
            </a:r>
            <a:br/>
            <a:br/>
            <a:r>
              <a:t>Ditempatkan pada struktur pondasi dasar sebagai titik sensor spasial pertama.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3474720" cy="3566160"/>
          </a:xfrm>
          <a:prstGeom prst="roundRect">
            <a:avLst/>
          </a:prstGeom>
          <a:solidFill>
            <a:srgbClr val="121F31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45920"/>
            <a:ext cx="64008" cy="3566160"/>
          </a:xfrm>
          <a:prstGeom prst="rect">
            <a:avLst/>
          </a:prstGeom>
          <a:solidFill>
            <a:srgbClr val="48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81051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88EFF"/>
                </a:solidFill>
                <a:latin typeface="Aptos"/>
              </a:defRPr>
            </a:pPr>
            <a:r>
              <a:t>ANCHOR B • NODE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267712"/>
            <a:ext cx="31089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t>ESP32-S3 + LSM6DS3</a:t>
            </a:r>
            <a:br/>
            <a:br/>
            <a:r>
              <a:t>Ditempatkan terpisah secara spasial untuk menangkap perbedaan waktu tiba gelombang.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474720" cy="3566160"/>
          </a:xfrm>
          <a:prstGeom prst="roundRect">
            <a:avLst/>
          </a:prstGeom>
          <a:solidFill>
            <a:srgbClr val="121F31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45920"/>
            <a:ext cx="64008" cy="3566160"/>
          </a:xfrm>
          <a:prstGeom prst="rect">
            <a:avLst/>
          </a:prstGeom>
          <a:solidFill>
            <a:srgbClr val="32D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81051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2D3C0"/>
                </a:solidFill>
                <a:latin typeface="Aptos"/>
              </a:defRPr>
            </a:pPr>
            <a:r>
              <a:t>NODE 3 • HUB UTAMA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267712"/>
            <a:ext cx="31089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t>ESP32-S3 + kontrol aktuator</a:t>
            </a:r>
            <a:br/>
            <a:br/>
            <a:r>
              <a:t>Area kontrol dekat instalasi gas dan akses pintu keluar.</a:t>
            </a:r>
            <a:br/>
            <a:br/>
            <a:r>
              <a:t>Boks akrilik: 10 × 8 × 5 cm.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2356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8C9"/>
                </a:solidFill>
                <a:latin typeface="Aptos"/>
              </a:defRPr>
            </a:pPr>
            <a:r>
              <a:t>Aktuator utama: Micro Servo MG90S • MOSFET Switch 15A + dioda 1N4007 • Solenoid Door Lock • Buzzer &amp; LED RGB • BMP280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2D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AB8C9"/>
                </a:solidFill>
                <a:latin typeface="Aptos"/>
              </a:defRPr>
            </a:pPr>
            <a:r>
              <a:t>03 •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8C9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Hasil Pengujian &amp; Tampilan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8C9"/>
                </a:solidFill>
                <a:latin typeface="Aptos"/>
              </a:defRPr>
            </a:pPr>
            <a:r>
              <a:t>Materi visual yang ditampilkan pada slide pengujian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474720" cy="3566160"/>
          </a:xfrm>
          <a:prstGeom prst="roundRect">
            <a:avLst/>
          </a:prstGeom>
          <a:solidFill>
            <a:srgbClr val="121F31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64008" cy="356616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81051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AB40"/>
                </a:solidFill>
                <a:latin typeface="Aptos"/>
              </a:defRPr>
            </a:pPr>
            <a:r>
              <a:t>DATA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67712"/>
            <a:ext cx="31089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t>Screenshot struktur JSON dari API BMKG/JMA.</a:t>
            </a:r>
            <a:br/>
            <a:br/>
            <a:r>
              <a:t>Fokus: payload gempa, koordinat, waktu, dan status peringatan.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3474720" cy="3566160"/>
          </a:xfrm>
          <a:prstGeom prst="roundRect">
            <a:avLst/>
          </a:prstGeom>
          <a:solidFill>
            <a:srgbClr val="121F31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45920"/>
            <a:ext cx="64008" cy="3566160"/>
          </a:xfrm>
          <a:prstGeom prst="rect">
            <a:avLst/>
          </a:prstGeom>
          <a:solidFill>
            <a:srgbClr val="48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81051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88EFF"/>
                </a:solidFill>
                <a:latin typeface="Aptos"/>
              </a:defRPr>
            </a:pPr>
            <a:r>
              <a:t>RESPON SENSOR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267712"/>
            <a:ext cx="31089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t>Grafik respons akselerometer LSM6DS3 saat diberi simulasi getaran sinusoidal.</a:t>
            </a:r>
            <a:br/>
            <a:br/>
            <a:r>
              <a:t>Fokus: amplitudo dan timestamp antar-node.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474720" cy="3566160"/>
          </a:xfrm>
          <a:prstGeom prst="roundRect">
            <a:avLst/>
          </a:prstGeom>
          <a:solidFill>
            <a:srgbClr val="121F31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45920"/>
            <a:ext cx="64008" cy="3566160"/>
          </a:xfrm>
          <a:prstGeom prst="rect">
            <a:avLst/>
          </a:prstGeom>
          <a:solidFill>
            <a:srgbClr val="56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81051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6CD82"/>
                </a:solidFill>
                <a:latin typeface="Aptos"/>
              </a:defRPr>
            </a:pPr>
            <a:r>
              <a:t>EXECUTION 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267712"/>
            <a:ext cx="31089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t>Log waktu eksekusi solenoid pintu dan respons aktuator.</a:t>
            </a:r>
            <a:br/>
            <a:br/>
            <a:r>
              <a:t>Fokus: urutan event dari deteksi hingga mitigasi.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23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AAB8C9"/>
                </a:solidFill>
                <a:latin typeface="Aptos"/>
              </a:defRPr>
            </a:pPr>
            <a:r>
              <a:t>Catatan: sumber menyebutkan tiga jenis visual tersebut sebagai materi slide; file sumber tidak menyertakan screenshot/grafik aktual.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2D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AB8C9"/>
                </a:solidFill>
                <a:latin typeface="Aptos"/>
              </a:defRPr>
            </a:pPr>
            <a:r>
              <a:t>03 •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8C9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Evaluasi: Kelebihan &amp; Kekurangan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303520" cy="3566160"/>
          </a:xfrm>
          <a:prstGeom prst="roundRect">
            <a:avLst/>
          </a:prstGeom>
          <a:solidFill>
            <a:srgbClr val="121F31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3566160"/>
          </a:xfrm>
          <a:prstGeom prst="rect">
            <a:avLst/>
          </a:prstGeom>
          <a:solidFill>
            <a:srgbClr val="56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1051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56CD82"/>
                </a:solidFill>
                <a:latin typeface="Aptos"/>
              </a:defRPr>
            </a:pPr>
            <a:r>
              <a:t>KELEBIHAN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67712"/>
            <a:ext cx="493775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t>• Redundansi data: sensor lokal + data BMKG/JMA</a:t>
            </a:r>
            <a:br/>
            <a:r>
              <a:t>• Fleksibel dikonfigurasi mengikuti regulasi open data</a:t>
            </a:r>
            <a:br/>
            <a:r>
              <a:t>• Pemrosesan edge mendukung keputusan berlatensi rendah</a:t>
            </a:r>
            <a:br/>
            <a:r>
              <a:t>• Konteks makro memperkaya keputusan mitigasi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03520" cy="3566160"/>
          </a:xfrm>
          <a:prstGeom prst="roundRect">
            <a:avLst/>
          </a:prstGeom>
          <a:solidFill>
            <a:srgbClr val="121F31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64008" cy="3566160"/>
          </a:xfrm>
          <a:prstGeom prst="rect">
            <a:avLst/>
          </a:prstGeom>
          <a:solidFill>
            <a:srgbClr val="E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81051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F5C5C"/>
                </a:solidFill>
                <a:latin typeface="Aptos"/>
              </a:defRPr>
            </a:pPr>
            <a:r>
              <a:t>KEKURANGAN / RISIKO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67712"/>
            <a:ext cx="493775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t>• Internet dapat terputus sebelum API menyebarkan data</a:t>
            </a:r>
            <a:br/>
            <a:r>
              <a:t>• Dalam kondisi itu Node 3 mengandalkan sensor lokal</a:t>
            </a:r>
            <a:br/>
            <a:r>
              <a:t>• Cakupan radius deteksi lokal lebih sempit tanpa data makro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23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8FC"/>
                </a:solidFill>
                <a:latin typeface="Aptos"/>
              </a:defRPr>
            </a:pPr>
            <a:r>
              <a:t>Implikasi desain: fallback lokal harus diperlakukan sebagai jalur keselamatan, bukan sekadar fitur tambahan.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2D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AB8C9"/>
                </a:solidFill>
                <a:latin typeface="Aptos"/>
              </a:defRPr>
            </a:pPr>
            <a:r>
              <a:t>04 •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8C9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Kesimpulan &amp; Saran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03520" cy="3383280"/>
          </a:xfrm>
          <a:prstGeom prst="roundRect">
            <a:avLst/>
          </a:prstGeom>
          <a:solidFill>
            <a:srgbClr val="121F31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64008" cy="3383280"/>
          </a:xfrm>
          <a:prstGeom prst="rect">
            <a:avLst/>
          </a:prstGeom>
          <a:solidFill>
            <a:srgbClr val="32D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5623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2D3C0"/>
                </a:solidFill>
                <a:latin typeface="Aptos"/>
              </a:defRPr>
            </a:pPr>
            <a:r>
              <a:t>KESIMPULAN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13432"/>
            <a:ext cx="4937759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F8FC"/>
                </a:solidFill>
                <a:latin typeface="Aptos"/>
              </a:defRPr>
            </a:pPr>
            <a:r>
              <a:t>Rancangan sistem keselamatan gempa tiga node menggabungkan konsensus spasial lokal dengan integrasi API BMKG &amp; JMA untuk menghasilkan keputusan mitigasi yang divalidasi.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303520" cy="3383280"/>
          </a:xfrm>
          <a:prstGeom prst="roundRect">
            <a:avLst/>
          </a:prstGeom>
          <a:solidFill>
            <a:srgbClr val="121F31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64008" cy="338328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85623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AB40"/>
                </a:solidFill>
                <a:latin typeface="Aptos"/>
              </a:defRPr>
            </a:pPr>
            <a:r>
              <a:t>PENGEMBANGAN LANJUTAN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313432"/>
            <a:ext cx="4937759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F8FC"/>
                </a:solidFill>
                <a:latin typeface="Aptos"/>
              </a:defRPr>
            </a:pPr>
            <a:r>
              <a:t>Pertimbangkan komunikasi darurat cadangan berbasis satelit berdaya rendah (NTN) atau LoRa mesh jarak jauh agar akses data eksternal tetap tersedia ketika infrastruktur internet runtuh.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23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8FC"/>
                </a:solidFill>
                <a:latin typeface="Aptos"/>
              </a:defRPr>
            </a:pPr>
            <a:r>
              <a:t>Target akhir: keputusan cepat di edge, validasi makro ketika tersedia, dan mitigasi tetap berjalan saat konektivitas gagal.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2D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AB8C9"/>
                </a:solidFill>
                <a:latin typeface="Aptos"/>
              </a:defRPr>
            </a:pPr>
            <a:r>
              <a:t>05 •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8C9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Referensi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8C9"/>
                </a:solidFill>
                <a:latin typeface="Aptos"/>
              </a:defRPr>
            </a:pPr>
            <a:r>
              <a:t>Format IEEE • sumber yang tercantum pada dokumen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[1] R. Kamal, Internet Of Things Architecture and Design Principles, McGraw-Hill Education, 2022.</a:t>
            </a:r>
          </a:p>
          <a:p>
            <a:pPr>
              <a:spcAft>
                <a:spcPts val="14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[2] A. Kapoor, Hands-On Artificial Intelligence for IoT, Packt Publishing, 2025.</a:t>
            </a:r>
          </a:p>
          <a:p>
            <a:pPr>
              <a:spcAft>
                <a:spcPts val="14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[3] Binus University Graduate Program, “LN1-S1-Introduction to Intelligent Internet of Things (IIoT),” Lecture Notes, 2026.</a:t>
            </a:r>
          </a:p>
          <a:p>
            <a:pPr>
              <a:spcAft>
                <a:spcPts val="14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[4] Screenshot 2026-09-01 at 21.10.50.png.</a:t>
            </a:r>
          </a:p>
          <a:p>
            <a:pPr>
              <a:spcAft>
                <a:spcPts val="14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[5] Screenshot 2026-09-01 at 20.45.24.png.</a:t>
            </a:r>
          </a:p>
          <a:p>
            <a:pPr>
              <a:spcAft>
                <a:spcPts val="14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[6] PPT1 – Introduction to Intelligent Internet of Things (IIoT).pptx.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978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8C9"/>
                </a:solidFill>
                <a:latin typeface="Aptos"/>
              </a:defRPr>
            </a:pPr>
            <a:r>
              <a:t>Materi presentasi disusun berdasarkan dokumen sumber yang diberikan.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